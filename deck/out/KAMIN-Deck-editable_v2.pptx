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embeddedFontLst>
    <p:embeddedFont>
      <p:font typeface="IBM Plex Sans Arabic" pitchFamily="34" charset="0"/>
      <p:regular r:id="rId23"/>
      <p:bold r:id="rId24"/>
    </p:embeddedFont>
  </p:embeddedFont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font" Target="fonts/font1.fntdata"/><Relationship Id="rId24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010900" y="838200"/>
            <a:ext cx="3238500" cy="11430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90600" y="1809750"/>
            <a:ext cx="1325880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999"/>
              </a:lnSpc>
            </a:pPr>
            <a:r>
              <a:rPr sz="168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4476750"/>
            <a:ext cx="13258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الموجود الغير مكتشف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838700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>
                <a:solidFill>
                  <a:srgbClr val="FF5C1A"/>
                </a:solidFill>
                <a:latin typeface="IBM Plex Mono"/>
                <a:ea typeface="IBM Plex Mono"/>
                <a:cs typeface="IBM Plex Mono"/>
              </a:rPr>
              <a:t>K A M I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5391150"/>
            <a:ext cx="13258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9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خريطة حيّة للقدرات المحلية.</a:t>
            </a:r>
          </a:p>
        </p:txBody>
      </p:sp>
      <p:sp>
        <p:nvSpPr>
          <p:cNvPr id="8" name="Rectangle 7"/>
          <p:cNvSpPr/>
          <p:nvPr/>
        </p:nvSpPr>
        <p:spPr>
          <a:xfrm>
            <a:off x="990600" y="73914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0600" y="752475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75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01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0" y="7505700"/>
            <a:ext cx="571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6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هاكاثون ابتكار · المسار الأول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الافتتاحية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20650" y="1600200"/>
            <a:ext cx="1428750" cy="952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0600" y="1847850"/>
            <a:ext cx="132588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72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«هل فيه مورد محلي؟»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143250"/>
            <a:ext cx="132588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سؤال تظن إجابته سهلة، لدرجة إنك تتوقّع تلقاها بواحدة من هذي:</a:t>
            </a:r>
          </a:p>
        </p:txBody>
      </p:sp>
      <p:pic>
        <p:nvPicPr>
          <p:cNvPr id="11" name="Picture 10" descr="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676650"/>
            <a:ext cx="13258800" cy="285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0600" y="6705600"/>
            <a:ext cx="1325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7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وفي الحقيقة؟ محد يقدر يجاوبه.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لماذا يهم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381250"/>
            <a:ext cx="132588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42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شركات الصندوق تشتري من موردين خارجيين، لثلاثة أسباب.</a:t>
            </a:r>
          </a:p>
        </p:txBody>
      </p:sp>
      <p:sp>
        <p:nvSpPr>
          <p:cNvPr id="9" name="Rectangle 8"/>
          <p:cNvSpPr/>
          <p:nvPr/>
        </p:nvSpPr>
        <p:spPr>
          <a:xfrm>
            <a:off x="9810750" y="4267200"/>
            <a:ext cx="4438650" cy="228600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96500" y="4572000"/>
            <a:ext cx="3867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السبب الأول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0" y="4876800"/>
            <a:ext cx="3867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لسبب وجيه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0" y="5505450"/>
            <a:ext cx="38671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9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فعلاً محد يصنعه محلياً.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5400" y="4267200"/>
            <a:ext cx="4438650" cy="22860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1150" y="4572000"/>
            <a:ext cx="3867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السبب الثاني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1150" y="4876800"/>
            <a:ext cx="3867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لأنه ما يناسب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1150" y="5505450"/>
            <a:ext cx="38671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95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بسبب جودته، وقت التسليم، أو اختلاف المعايير.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0050" y="4267200"/>
            <a:ext cx="4438650" cy="22860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38671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السبب الثالث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76800"/>
            <a:ext cx="3867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لسبب مؤسف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05450"/>
            <a:ext cx="38671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95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فيه أحد يصنعه على بُعد ساعتين، بس محد يدري عنه.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المشكلة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524000"/>
            <a:ext cx="13258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49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ليه؟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381250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ليه ما نعرفه، وليه غير مناسب.</a:t>
            </a:r>
          </a:p>
        </p:txBody>
      </p:sp>
      <p:pic>
        <p:nvPicPr>
          <p:cNvPr id="10" name="Picture 9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914650"/>
            <a:ext cx="13258800" cy="4476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75" b="0">
                <a:solidFill>
                  <a:srgbClr val="5A2206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5A2206"/>
                </a:solidFill>
                <a:latin typeface="IBM Plex Sans Arabic"/>
                <a:ea typeface="IBM Plex Sans Arabic"/>
                <a:cs typeface="IBM Plex Sans Arabic"/>
              </a:rPr>
              <a:t>الفصل الثاني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3048000"/>
            <a:ext cx="1143000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5000" b="1">
                <a:solidFill>
                  <a:srgbClr val="0B0A09"/>
                </a:solidFill>
                <a:latin typeface="IBM Plex Sans Arabic"/>
                <a:ea typeface="IBM Plex Sans Arabic"/>
                <a:cs typeface="IBM Plex Sans Arabic"/>
              </a:rPr>
              <a:t>والحل؟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8A3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90600" y="77343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5A2206"/>
                </a:solidFill>
                <a:latin typeface="IBM Plex Mono"/>
                <a:ea typeface="IBM Plex Mono"/>
                <a:cs typeface="IBM Plex Mono"/>
              </a:rPr>
              <a:t>05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9400" y="771525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1">
                <a:solidFill>
                  <a:srgbClr val="5A2206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طيب كيف نحلها؟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600200"/>
            <a:ext cx="132588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43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ببساطة. نوظّف فريق.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77575" y="2552700"/>
            <a:ext cx="3171825" cy="2857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ig-coordin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975" y="2724150"/>
            <a:ext cx="1343025" cy="1492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77575" y="4610100"/>
            <a:ext cx="31718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4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المنسّق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5250" y="2552700"/>
            <a:ext cx="3171825" cy="2857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ig-det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2724150"/>
            <a:ext cx="1343025" cy="14137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5250" y="4610100"/>
            <a:ext cx="31718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4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المحقّق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2925" y="2552700"/>
            <a:ext cx="3171825" cy="2857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ig-aud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325" y="2724150"/>
            <a:ext cx="1343025" cy="18595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52925" y="4610100"/>
            <a:ext cx="31718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4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المدقّق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2552700"/>
            <a:ext cx="3171825" cy="2857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fig-advis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2724150"/>
            <a:ext cx="1343025" cy="1478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90600" y="4610100"/>
            <a:ext cx="31718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4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المستشار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39115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25000" y="5638800"/>
            <a:ext cx="47244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45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احنا ما نوظّفهم.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5505450"/>
            <a:ext cx="3238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630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نشغّلهم.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92000" y="6724650"/>
            <a:ext cx="2057400" cy="438150"/>
          </a:xfrm>
          <a:prstGeom prst="rect">
            <a:avLst/>
          </a:prstGeom>
          <a:solidFill>
            <a:srgbClr val="2A140B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192000" y="6848475"/>
            <a:ext cx="2057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25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وكلاء ذكاء اصطناعي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6450" y="6724650"/>
            <a:ext cx="2381250" cy="4381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6450" y="6848475"/>
            <a:ext cx="2381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2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دقيقتين للمصنع بدل يوم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15250" y="6724650"/>
            <a:ext cx="1866900" cy="4381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15250" y="6848475"/>
            <a:ext cx="18669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2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٢٤ ساعة بلا توقف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2600" y="6724650"/>
            <a:ext cx="2038350" cy="4381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562600" y="6848475"/>
            <a:ext cx="2038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2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ما ينسون ولا معلومة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وش هو كامن؟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pic>
        <p:nvPicPr>
          <p:cNvPr id="8" name="Picture 7" descr="KA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2100" y="2209800"/>
            <a:ext cx="1257300" cy="1257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91600" y="2286000"/>
            <a:ext cx="3810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66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600" y="3333750"/>
            <a:ext cx="381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الموجود الغير مكتشف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600" y="36576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Mono"/>
                <a:ea typeface="IBM Plex Mono"/>
                <a:cs typeface="IBM Plex Mono"/>
              </a:rPr>
              <a:t>K A M I 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24900" y="2209800"/>
            <a:ext cx="9525" cy="1619250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0600" y="2247900"/>
            <a:ext cx="75247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0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منصّة وكلاء ذكاء اصطناعي تشتغل لحالها، على مدار الساعة.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429000"/>
            <a:ext cx="75247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5000"/>
              </a:lnSpc>
            </a:pPr>
            <a:r>
              <a:rPr sz="16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تبني للصندوق خريطة حيّة للقدرات المحلية، وتربطها بطلب شركات المحفظة مجمّعاً، وتكمل الطريق للمورّد نفسه.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39350" y="4838700"/>
            <a:ext cx="4210050" cy="190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039350" y="5010150"/>
            <a:ext cx="4210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مؤتمتة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05450" y="4838700"/>
            <a:ext cx="4210050" cy="190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505450" y="5010150"/>
            <a:ext cx="4210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متعددة الوكلاء</a:t>
            </a:r>
          </a:p>
        </p:txBody>
      </p:sp>
      <p:pic>
        <p:nvPicPr>
          <p:cNvPr id="19" name="Picture 18" descr="fig-coordin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5505450"/>
            <a:ext cx="800100" cy="889000"/>
          </a:xfrm>
          <a:prstGeom prst="rect">
            <a:avLst/>
          </a:prstGeom>
        </p:spPr>
      </p:pic>
      <p:pic>
        <p:nvPicPr>
          <p:cNvPr id="20" name="Picture 19" descr="fig-detec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5505450"/>
            <a:ext cx="800100" cy="842211"/>
          </a:xfrm>
          <a:prstGeom prst="rect">
            <a:avLst/>
          </a:prstGeom>
        </p:spPr>
      </p:pic>
      <p:pic>
        <p:nvPicPr>
          <p:cNvPr id="21" name="Picture 20" descr="fig-audi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5505450"/>
            <a:ext cx="800100" cy="1107831"/>
          </a:xfrm>
          <a:prstGeom prst="rect">
            <a:avLst/>
          </a:prstGeom>
        </p:spPr>
      </p:pic>
      <p:pic>
        <p:nvPicPr>
          <p:cNvPr id="22" name="Picture 21" descr="fig-advis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505450"/>
            <a:ext cx="800100" cy="88084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971550" y="4838700"/>
            <a:ext cx="4210050" cy="190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71550" y="5010150"/>
            <a:ext cx="4210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ما توقف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0600" y="66675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3296900" y="7010400"/>
            <a:ext cx="95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والمُخرج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72550" y="6858000"/>
            <a:ext cx="3848100" cy="590550"/>
          </a:xfrm>
          <a:prstGeom prst="rect">
            <a:avLst/>
          </a:prstGeom>
          <a:solidFill>
            <a:srgbClr val="1E100A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972550" y="7010400"/>
            <a:ext cx="38481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9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موردون موثّقون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3950" y="6858000"/>
            <a:ext cx="3848100" cy="590550"/>
          </a:xfrm>
          <a:prstGeom prst="rect">
            <a:avLst/>
          </a:prstGeom>
          <a:solidFill>
            <a:srgbClr val="1E100A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33950" y="7010400"/>
            <a:ext cx="38481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9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سجل الفجوات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5350" y="6858000"/>
            <a:ext cx="3848100" cy="590550"/>
          </a:xfrm>
          <a:prstGeom prst="rect">
            <a:avLst/>
          </a:prstGeom>
          <a:solidFill>
            <a:srgbClr val="1E100A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95350" y="7010400"/>
            <a:ext cx="38481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9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نسبة التغطية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فلماذا محد سواها؟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0" y="2343150"/>
            <a:ext cx="56769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7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وليه محد سواها للآن؟</a:t>
            </a:r>
          </a:p>
        </p:txBody>
      </p:sp>
      <p:sp>
        <p:nvSpPr>
          <p:cNvPr id="9" name="Rectangle 8"/>
          <p:cNvSpPr/>
          <p:nvPr/>
        </p:nvSpPr>
        <p:spPr>
          <a:xfrm>
            <a:off x="8572500" y="3009900"/>
            <a:ext cx="56769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391900" y="3181350"/>
            <a:ext cx="2857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مصانع المملكة، ٢٠٢٥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0" y="3143250"/>
            <a:ext cx="285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١٢٩٤٦ مصنع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72500" y="3638550"/>
            <a:ext cx="56769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391900" y="3810000"/>
            <a:ext cx="2857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وكل مصنع يحتاج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0" y="3771900"/>
            <a:ext cx="285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يوم كامل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72500" y="4286250"/>
            <a:ext cx="5676900" cy="952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049250" y="4610100"/>
            <a:ext cx="1200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يعني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4419600"/>
            <a:ext cx="428625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0000"/>
              </a:lnSpc>
            </a:pPr>
            <a:r>
              <a:rPr sz="570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٣٥ سنة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0" y="5676900"/>
            <a:ext cx="56769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وأول ما تخلص، بتكون معلوماتك آوت ديتد!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8650" y="2343150"/>
            <a:ext cx="9525" cy="3810000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8750" y="2343150"/>
            <a:ext cx="6477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70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وليش الحين؟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8750" y="2857500"/>
            <a:ext cx="6477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6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لأن اللي كان يحتاج باحث ليوم كامل، صار وكيل ذكاء اصطناعي يسويه: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8750" y="3581400"/>
            <a:ext cx="647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يقرأ الموقع والسجل والترسيات والكتالوجات  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8750" y="3943350"/>
            <a:ext cx="647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دقيقتين للمصنع بدل يوم كامل  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8750" y="4305300"/>
            <a:ext cx="647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٢٤ ساعة بلا توقف، وبالتوازي  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8750" y="4667250"/>
            <a:ext cx="647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وما ينسى ولا معلومة لقاها  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28750" y="5295900"/>
            <a:ext cx="6477000" cy="9525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428750" y="5505450"/>
            <a:ext cx="6477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و٣٥ سنة تصير أقل من عشر ساعات.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ما الذي يبنونه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09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600200"/>
            <a:ext cx="1325880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9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خريطة كامن للقدرات المحلية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17716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✦  وكيل ذكاء اصطناعي</a:t>
            </a:r>
          </a:p>
        </p:txBody>
      </p:sp>
      <p:pic>
        <p:nvPicPr>
          <p:cNvPr id="10" name="Picture 9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362200"/>
            <a:ext cx="13258800" cy="51101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زووم · الاكتشاف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123950"/>
            <a:ext cx="132588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3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وش يصير قبل ما يوصل الخريطة؟</a:t>
            </a:r>
          </a:p>
        </p:txBody>
      </p:sp>
      <p:pic>
        <p:nvPicPr>
          <p:cNvPr id="9" name="Picture 8" descr="mini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33550"/>
            <a:ext cx="13258800" cy="8763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963150" y="2628900"/>
            <a:ext cx="4286250" cy="21526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153650" y="2800350"/>
            <a:ext cx="390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مصادر عامة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3650" y="35433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منافسات · ترميز · صنع في السعودية  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3650" y="386715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التجارة · الموارد البشرية · المقاولين  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53650" y="43434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اسم ورقم سجل 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76875" y="2628900"/>
            <a:ext cx="4286250" cy="21526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ust-det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275" y="2781300"/>
            <a:ext cx="476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7375" y="2800350"/>
            <a:ext cx="390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المحقّق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7375" y="3181350"/>
            <a:ext cx="390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يبحث، ويتواصل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7375" y="35433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يقرأ الموقع والسجل والترسيات 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7375" y="386715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ويتواصل مع اللي يلقاه  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7375" y="43434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مورّد ومعه أدلته 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2628900"/>
            <a:ext cx="4286250" cy="21526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bust-aud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781300"/>
            <a:ext cx="476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1100" y="2800350"/>
            <a:ext cx="390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المدقّق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1100" y="3181350"/>
            <a:ext cx="3905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يتحقّق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1100" y="35433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يدقّق في معلومات المحقّق  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100" y="386715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يصنّف ويوثّق المورّد  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1100" y="4343400"/>
            <a:ext cx="3905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قدرة موثّقة تدخل الخريطة 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53900" y="4991100"/>
            <a:ext cx="2095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1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تواصل المحقّق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7500" y="50482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وكل رسالة فيها رابط التسجيل في مساهمة.</a:t>
            </a:r>
          </a:p>
        </p:txBody>
      </p:sp>
      <p:pic>
        <p:nvPicPr>
          <p:cNvPr id="31" name="Picture 30" descr="fun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5391150"/>
            <a:ext cx="13258800" cy="2247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زووم · القرار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123950"/>
            <a:ext cx="132588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3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ولما الخريطة تقول محد يقدر؟</a:t>
            </a:r>
          </a:p>
        </p:txBody>
      </p:sp>
      <p:pic>
        <p:nvPicPr>
          <p:cNvPr id="9" name="Picture 8" descr="minima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33550"/>
            <a:ext cx="13258800" cy="8763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391900" y="2571750"/>
            <a:ext cx="2857500" cy="121920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563350" y="2781300"/>
            <a:ext cx="2514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25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الخريطة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5600" y="2571750"/>
            <a:ext cx="4476750" cy="12192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77050" y="2781300"/>
            <a:ext cx="41338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25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المستشار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7050" y="3143250"/>
            <a:ext cx="41338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ما يوقف عند «محد يقدر». يجرّب ست درجات بالترتيب.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2571750"/>
            <a:ext cx="2609850" cy="12192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057650" y="2781300"/>
            <a:ext cx="2266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25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سجل الفجوات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7650" y="3143250"/>
            <a:ext cx="22669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اللي ما انحل، مقيّد بقيمته السنوية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" y="2571750"/>
            <a:ext cx="2609850" cy="121920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38250" y="2781300"/>
            <a:ext cx="2266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25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نسبة التغطية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50" y="3143250"/>
            <a:ext cx="22669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اللي قدرنا نغطّيه محلياً، بعد كل درجة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5050" y="4076700"/>
            <a:ext cx="4324350" cy="9715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696950" y="440055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39550" y="432435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نشتريه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34600" y="4362450"/>
            <a:ext cx="1447800" cy="4000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34600" y="447675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أمر شراء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57825" y="4076700"/>
            <a:ext cx="4324350" cy="9715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229725" y="440055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2325" y="432435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نقسّمه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7375" y="4362450"/>
            <a:ext cx="1447800" cy="4000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667375" y="447675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ترسية مقسّمة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0600" y="4076700"/>
            <a:ext cx="4324350" cy="97155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762500" y="440055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5100" y="432435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نستثمر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" y="4362450"/>
            <a:ext cx="1447800" cy="400050"/>
          </a:xfrm>
          <a:prstGeom prst="rect">
            <a:avLst/>
          </a:prstGeom>
          <a:noFill/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00150" y="447675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توسعة مقابل تعاقد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5050" y="5200650"/>
            <a:ext cx="4324350" cy="97155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3696950" y="552450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39550" y="544830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نشارك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34600" y="5486400"/>
            <a:ext cx="1447800" cy="400050"/>
          </a:xfrm>
          <a:prstGeom prst="rect">
            <a:avLst/>
          </a:prstGeom>
          <a:noFill/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134600" y="560070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شراكة ونقل معرفة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57825" y="5200650"/>
            <a:ext cx="4324350" cy="971550"/>
          </a:xfrm>
          <a:prstGeom prst="rect">
            <a:avLst/>
          </a:prstGeom>
          <a:solidFill>
            <a:srgbClr val="1A0E09"/>
          </a:solidFill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229725" y="552450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2325" y="544830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نوطّن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7375" y="5486400"/>
            <a:ext cx="1447800" cy="400050"/>
          </a:xfrm>
          <a:prstGeom prst="rect">
            <a:avLst/>
          </a:prstGeom>
          <a:noFill/>
          <a:ln w="12700">
            <a:solidFill>
              <a:srgbClr val="FF5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67375" y="560070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استثمار مباشر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0600" y="5200650"/>
            <a:ext cx="4324350" cy="971550"/>
          </a:xfrm>
          <a:prstGeom prst="rect">
            <a:avLst/>
          </a:prstGeom>
          <a:solidFill>
            <a:srgbClr val="141210"/>
          </a:solidFill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762500" y="5524500"/>
            <a:ext cx="419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5100" y="5448300"/>
            <a:ext cx="200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5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نستورد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00150" y="5486400"/>
            <a:ext cx="1447800" cy="400050"/>
          </a:xfrm>
          <a:prstGeom prst="rect">
            <a:avLst/>
          </a:prstGeom>
          <a:noFill/>
          <a:ln w="12700">
            <a:solidFill>
              <a:srgbClr val="241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200150" y="560070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50" b="0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استيراد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المُخرج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pic>
        <p:nvPicPr>
          <p:cNvPr id="8" name="Picture 7" descr="sup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400175"/>
            <a:ext cx="13258800" cy="5467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الحساب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9400" y="23241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الطريقة القديمة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76900" y="232410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0600" y="272415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344400" y="2971800"/>
            <a:ext cx="1905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175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الوقت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400" y="299085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٣٥ سنة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400" y="299085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أقل من ١٠ ساعات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35814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344400" y="3829050"/>
            <a:ext cx="1905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175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التكلفة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4400" y="384810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ملايين الريالات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400" y="384810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أقل من ٤ آلاف دولار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3865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344400" y="4686300"/>
            <a:ext cx="1905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175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الحداثة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4400" y="470535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تقرير يطلع قديم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4400" y="4705350"/>
            <a:ext cx="3619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2025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يحدّث نفسه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5676900"/>
            <a:ext cx="132588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42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نفس الشغل. بس بساعات، مو بسنوات.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 اليوم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524000"/>
            <a:ext cx="132588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46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كامن اليوم.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400300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الأرقام من قاعدة البيانات، والتكلفة من الفواتير.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1900" y="3009900"/>
            <a:ext cx="9525" cy="4305300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39400" y="302895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وش بناه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2900" y="33528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439650" y="3543300"/>
            <a:ext cx="1809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١٥,٠٢٥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2900" y="3657600"/>
            <a:ext cx="428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50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مورّد. شركة وحدة.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2900" y="4019550"/>
            <a:ext cx="4381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50000"/>
              </a:lnSpc>
            </a:pPr>
            <a:r>
              <a:rPr sz="1275" b="0">
                <a:solidFill>
                  <a:srgbClr val="4C463F"/>
                </a:solidFill>
                <a:latin typeface="IBM Plex Sans Arabic"/>
                <a:ea typeface="IBM Plex Sans Arabic"/>
                <a:cs typeface="IBM Plex Sans Arabic"/>
              </a:rPr>
              <a:t>ترميز ١٤,٨٧٣ · غرفة المدينة ١١٤ · صنع في السعودية ٢٨ · بلا سجل ١٠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2900" y="43815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439650" y="4572000"/>
            <a:ext cx="1809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٥١,٩٩٢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2900" y="4686300"/>
            <a:ext cx="428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50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قدرة. مورّد واحد. منتج واحد. بمواصفات محددة.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62900" y="54102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439650" y="5600700"/>
            <a:ext cx="1809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1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١,١٤٦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2900" y="5715000"/>
            <a:ext cx="428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50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تشغيلة وكيل.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900" y="30289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75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وش كلّف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0600" y="33528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267200" y="3486150"/>
            <a:ext cx="30099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900" b="1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صفر ريال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600" y="3695700"/>
            <a:ext cx="3143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57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على ٢.٩٣ مليون توكن دخل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600" y="4171950"/>
            <a:ext cx="6286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1425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qwen3.5:9b محلي على Ollama، وTavily على باقته المجانية. وما اتصلنا بأحد بعد.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" y="4743450"/>
            <a:ext cx="6286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النموذج · نفس ٢.٩٣ مليون توكن دخل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0600" y="49911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848100" y="50863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F7F3EC"/>
                </a:solidFill>
                <a:latin typeface="IBM Plex Mono"/>
                <a:ea typeface="IBM Plex Mono"/>
                <a:cs typeface="IBM Plex Mono"/>
              </a:rPr>
              <a:t>Ollama · qwen3.5:9b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600" y="5076825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F5C1A"/>
                </a:solidFill>
                <a:latin typeface="IBM Plex Mono"/>
                <a:ea typeface="IBM Plex Mono"/>
                <a:cs typeface="IBM Plex Mono"/>
              </a:rPr>
              <a:t>$0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0600" y="53721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848100" y="54673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Gemini Flash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" y="5457825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7F3EC"/>
                </a:solidFill>
                <a:latin typeface="IBM Plex Mono"/>
                <a:ea typeface="IBM Plex Mono"/>
                <a:cs typeface="IBM Plex Mono"/>
              </a:rPr>
              <a:t>$2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0600" y="57531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848100" y="58483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GPT-4o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600" y="5838825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7F3EC"/>
                </a:solidFill>
                <a:latin typeface="IBM Plex Mono"/>
                <a:ea typeface="IBM Plex Mono"/>
                <a:cs typeface="IBM Plex Mono"/>
              </a:rPr>
              <a:t>$12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0600" y="61341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848100" y="62293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Claude Opus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0600" y="6219825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7F3EC"/>
                </a:solidFill>
                <a:latin typeface="IBM Plex Mono"/>
                <a:ea typeface="IBM Plex Mono"/>
                <a:cs typeface="IBM Plex Mono"/>
              </a:rPr>
              <a:t>$81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600" y="6648450"/>
            <a:ext cx="6286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>
                <a:solidFill>
                  <a:srgbClr val="FF5C1A"/>
                </a:solidFill>
                <a:latin typeface="IBM Plex Sans Arabic"/>
                <a:ea typeface="IBM Plex Sans Arabic"/>
                <a:cs typeface="IBM Plex Sans Arabic"/>
              </a:rPr>
              <a:t>البحث والمكالمات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0600" y="68961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848100" y="69913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Tavily · 507 searches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0600" y="6981825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7F3EC"/>
                </a:solidFill>
                <a:latin typeface="IBM Plex Mono"/>
                <a:ea typeface="IBM Plex Mono"/>
                <a:cs typeface="IBM Plex Mono"/>
              </a:rPr>
              <a:t>$4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0600" y="7277100"/>
            <a:ext cx="62865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848100" y="73723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7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Voice call · per call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0600" y="7362825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7F3EC"/>
                </a:solidFill>
                <a:latin typeface="IBM Plex Mono"/>
                <a:ea typeface="IBM Plex Mono"/>
                <a:cs typeface="IBM Plex Mono"/>
              </a:rPr>
              <a:t>$0.90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0600" y="7734300"/>
            <a:ext cx="628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125" b="0">
                <a:solidFill>
                  <a:srgbClr val="4C463F"/>
                </a:solidFill>
                <a:latin typeface="IBM Plex Sans Arabic"/>
                <a:ea typeface="IBM Plex Sans Arabic"/>
                <a:cs typeface="IBM Plex Sans Arabic"/>
              </a:rPr>
              <a:t>أسعار قوائم تقريبية. والمكالمة تقدير لثلاث دقايق.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010900" y="2247900"/>
            <a:ext cx="3238500" cy="11430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90600" y="2781300"/>
            <a:ext cx="13258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645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مساهمة تعرف مين سجّل.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3848100"/>
            <a:ext cx="13258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64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كامن يعرف اللي ما رفع يده.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5295900"/>
            <a:ext cx="13258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2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احنا مو بديل للمنصة. احنا الطبقة اللي تحتها.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B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90600" y="8001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25" b="0">
                <a:solidFill>
                  <a:srgbClr val="7C766D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9400" y="8001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3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من نحن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7620000"/>
            <a:ext cx="13258800" cy="9525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77343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50" b="0">
                <a:solidFill>
                  <a:srgbClr val="241F1B"/>
                </a:solidFill>
                <a:latin typeface="IBM Plex Mono"/>
                <a:ea typeface="IBM Plex Mono"/>
                <a:cs typeface="IBM Plex Mono"/>
              </a:rP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77152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</a:pPr>
            <a:r>
              <a:rPr sz="1200" b="1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كامن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34900" y="1504950"/>
            <a:ext cx="1714500" cy="95250"/>
          </a:xfrm>
          <a:prstGeom prst="rect">
            <a:avLst/>
          </a:prstGeom>
          <a:solidFill>
            <a:srgbClr val="FF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0600" y="1771650"/>
            <a:ext cx="132588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570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ثلاثة أشخاص. وآلاف الوكلاء.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838450"/>
            <a:ext cx="13258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5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الفريق اللي يبني كامن.</a:t>
            </a:r>
          </a:p>
        </p:txBody>
      </p:sp>
      <p:pic>
        <p:nvPicPr>
          <p:cNvPr id="11" name="Picture 10" descr="face-mohamm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0" y="3543300"/>
            <a:ext cx="2514600" cy="2514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63300" y="6305550"/>
            <a:ext cx="3657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8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محمد شلبي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3300" y="68199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AI-Native Principle Engineer</a:t>
            </a:r>
          </a:p>
        </p:txBody>
      </p:sp>
      <p:pic>
        <p:nvPicPr>
          <p:cNvPr id="14" name="Picture 13" descr="face-al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3543300"/>
            <a:ext cx="2514600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81800" y="6305550"/>
            <a:ext cx="3657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8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علي باموالم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68199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Product Consultant</a:t>
            </a:r>
          </a:p>
        </p:txBody>
      </p:sp>
      <p:pic>
        <p:nvPicPr>
          <p:cNvPr id="17" name="Picture 16" descr="face-abdulaziz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3543300"/>
            <a:ext cx="2514600" cy="2514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00300" y="6305550"/>
            <a:ext cx="3657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850" b="1">
                <a:solidFill>
                  <a:srgbClr val="F7F3EC"/>
                </a:solidFill>
                <a:latin typeface="IBM Plex Sans Arabic"/>
                <a:ea typeface="IBM Plex Sans Arabic"/>
                <a:cs typeface="IBM Plex Sans Arabic"/>
              </a:rPr>
              <a:t>عبدالعزيز الحارثي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0300" y="68199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7C766D"/>
                </a:solidFill>
                <a:latin typeface="IBM Plex Sans Arabic"/>
                <a:ea typeface="IBM Plex Sans Arabic"/>
                <a:cs typeface="IBM Plex Sans Arabic"/>
              </a:rPr>
              <a:t>Data Engineer / 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BM Plex Sans Arabic"/>
        <a:ea typeface="IBM Plex Sans Arabic"/>
        <a:cs typeface="IBM Plex Sans Arabic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 Arabic"/>
        <a:ea typeface="IBM Plex Sans Arabic"/>
        <a:cs typeface="IBM Plex Sans Arabic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