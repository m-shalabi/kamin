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embeddedFontLst>
    <p:embeddedFont>
      <p:font typeface="IBM Plex Sans Arabic" pitchFamily="34" charset="0"/>
      <p:regular r:id="rId25"/>
      <p:bold r:id="rId26"/>
    </p:embeddedFont>
    <p:embeddedFont>
      <p:font typeface="IBM Plex Mono" pitchFamily="34" charset="0"/>
      <p:regular r:id="rId27"/>
      <p:bold r:id="rId28"/>
    </p:embeddedFont>
  </p:embeddedFont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010900" y="838200"/>
            <a:ext cx="3238500" cy="1143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0600" y="1809750"/>
            <a:ext cx="132588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999"/>
              </a:lnSpc>
            </a:pPr>
            <a:r>
              <a:rPr sz="168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476750"/>
            <a:ext cx="13258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الموجود الغير مكتشف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83870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FF5C1A"/>
                </a:solidFill>
                <a:latin typeface="IBM Plex Mono"/>
                <a:ea typeface="IBM Plex Mono"/>
                <a:cs typeface="IBM Plex Mono"/>
              </a:rPr>
              <a:t>K A M I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5391150"/>
            <a:ext cx="1325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خريطة حيّة للقدرات المحلية.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73914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75247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7505700"/>
            <a:ext cx="571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هاكاثون ابتكار · المسار الأول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الافتتاحية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20650" y="1600200"/>
            <a:ext cx="1428750" cy="952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1847850"/>
            <a:ext cx="132588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72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«هل فيه مورد محلي؟»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143250"/>
            <a:ext cx="13258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سؤال تظن إجابته سهلة، لدرجة إنك تتوقّع تلقاها بواحدة من هذي:</a:t>
            </a:r>
          </a:p>
        </p:txBody>
      </p:sp>
      <p:pic>
        <p:nvPicPr>
          <p:cNvPr id="11" name="Picture 10" descr="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676650"/>
            <a:ext cx="13258800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600" y="6705600"/>
            <a:ext cx="1325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7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وفي الحقيقة؟ محد يقدر يجاوبه.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لماذا يهم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381250"/>
            <a:ext cx="132588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2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شركات الصندوق تشتري من موردين خارجيين، لثلاثة أسباب.</a:t>
            </a:r>
          </a:p>
        </p:txBody>
      </p:sp>
      <p:sp>
        <p:nvSpPr>
          <p:cNvPr id="9" name="Rectangle 8"/>
          <p:cNvSpPr/>
          <p:nvPr/>
        </p:nvSpPr>
        <p:spPr>
          <a:xfrm>
            <a:off x="9810750" y="4267200"/>
            <a:ext cx="4438650" cy="228600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9650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السبب الأول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لسبب وجيه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فعلاً محد يصنعه محلياً.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5400" y="4267200"/>
            <a:ext cx="4438650" cy="22860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115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السبب الثاني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115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لأنه ما يناسب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115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بسبب جودته، وقت التسليم، أو اختلاف المعايير.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0050" y="4267200"/>
            <a:ext cx="4438650" cy="22860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السبب الثالث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لسبب مؤسف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فيه أحد يصنعه على بُعد ساعتين، بس محد يدري عنه.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المشكلة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24000"/>
            <a:ext cx="13258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9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ليه؟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38125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ليه ما نعرفه، وليه غير مناسب.</a:t>
            </a:r>
          </a:p>
        </p:txBody>
      </p:sp>
      <p:pic>
        <p:nvPicPr>
          <p:cNvPr id="10" name="Picture 9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14650"/>
            <a:ext cx="13258800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5A2206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5A2206"/>
                </a:solidFill>
                <a:latin typeface="IBM Plex Sans Arabic"/>
                <a:ea typeface="IBM Plex Sans Arabic"/>
                <a:cs typeface="IBM Plex Sans Arabic"/>
              </a:rPr>
              <a:t>الفصل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3048000"/>
            <a:ext cx="114300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5000" b="1">
                <a:solidFill>
                  <a:srgbClr val="0B0A09"/>
                </a:solidFill>
                <a:latin typeface="IBM Plex Sans Arabic"/>
                <a:ea typeface="IBM Plex Sans Arabic"/>
                <a:cs typeface="IBM Plex Sans Arabic"/>
              </a:rPr>
              <a:t>والحل؟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8A3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90600" y="77343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5A2206"/>
                </a:solidFill>
                <a:latin typeface="IBM Plex Mono"/>
                <a:ea typeface="IBM Plex Mono"/>
                <a:cs typeface="IBM Plex Mono"/>
              </a:rPr>
              <a:t>05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771525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1">
                <a:solidFill>
                  <a:srgbClr val="5A2206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وش هو كامن؟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pic>
        <p:nvPicPr>
          <p:cNvPr id="8" name="Picture 7" descr="KA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100" y="2209800"/>
            <a:ext cx="1257300" cy="1257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91600" y="2286000"/>
            <a:ext cx="3810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66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0" y="333375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الموجود الغير مكتشف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600" y="36576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Mono"/>
                <a:ea typeface="IBM Plex Mono"/>
                <a:cs typeface="IBM Plex Mono"/>
              </a:rPr>
              <a:t>K A M I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24900" y="2209800"/>
            <a:ext cx="9525" cy="161925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0600" y="2247900"/>
            <a:ext cx="7524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0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منصّة وكلاء ذكاء اصطناعي تشتغل لحالها، على مدار الساعة.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429000"/>
            <a:ext cx="7524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5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تبني للصندوق خريطة حيّة للقدرات المحلية، وتربطها بطلب شركات المحفظة مجمّعاً، وتكمل الطريق للمورّد نفسه.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393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393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مؤتمتة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54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054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متعددة الوكلاء</a:t>
            </a:r>
          </a:p>
        </p:txBody>
      </p:sp>
      <p:pic>
        <p:nvPicPr>
          <p:cNvPr id="19" name="Picture 18" descr="fig-coordin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505450"/>
            <a:ext cx="800100" cy="889000"/>
          </a:xfrm>
          <a:prstGeom prst="rect">
            <a:avLst/>
          </a:prstGeom>
        </p:spPr>
      </p:pic>
      <p:pic>
        <p:nvPicPr>
          <p:cNvPr id="20" name="Picture 19" descr="fig-det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5505450"/>
            <a:ext cx="800100" cy="842211"/>
          </a:xfrm>
          <a:prstGeom prst="rect">
            <a:avLst/>
          </a:prstGeom>
        </p:spPr>
      </p:pic>
      <p:pic>
        <p:nvPicPr>
          <p:cNvPr id="21" name="Picture 20" descr="fig-aud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5505450"/>
            <a:ext cx="800100" cy="1107831"/>
          </a:xfrm>
          <a:prstGeom prst="rect">
            <a:avLst/>
          </a:prstGeom>
        </p:spPr>
      </p:pic>
      <p:pic>
        <p:nvPicPr>
          <p:cNvPr id="22" name="Picture 21" descr="fig-advis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505450"/>
            <a:ext cx="800100" cy="8808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715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15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ما توقف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600" y="66675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296900" y="7010400"/>
            <a:ext cx="95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والمُخرج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25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725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موردون موثّقون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39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39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سجل الفجوات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53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53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نسبة التغطية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طيب كيف نحلها؟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00200"/>
            <a:ext cx="13258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3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ببساطة. نوظّف فريق.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77575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ig-coordin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975" y="2724150"/>
            <a:ext cx="1343025" cy="1492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77575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المنسّق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5250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ig-det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724150"/>
            <a:ext cx="1343025" cy="14137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0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المحقّق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925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ig-au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2724150"/>
            <a:ext cx="1343025" cy="18595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52925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المدقّق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ig-advi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724150"/>
            <a:ext cx="1343025" cy="1478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600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المستشار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3911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25000" y="5638800"/>
            <a:ext cx="47244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5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احنا ما نوظّفهم.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5505450"/>
            <a:ext cx="3238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63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نشغّلهم.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0" y="6724650"/>
            <a:ext cx="2057400" cy="438150"/>
          </a:xfrm>
          <a:prstGeom prst="rect">
            <a:avLst/>
          </a:prstGeom>
          <a:solidFill>
            <a:srgbClr val="2A140B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192000" y="6848475"/>
            <a:ext cx="2057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وكلاء ذكاء اصطناعي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6450" y="6724650"/>
            <a:ext cx="238125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6450" y="6848475"/>
            <a:ext cx="2381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دقيقتين للمصنع بدل يوم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15250" y="6724650"/>
            <a:ext cx="186690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15250" y="6848475"/>
            <a:ext cx="1866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٢٤ ساعة بلا توقف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2600" y="6724650"/>
            <a:ext cx="203835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62600" y="6848475"/>
            <a:ext cx="2038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ما ينسون ولا معلومة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فلماذا محد سواها؟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0" y="2343150"/>
            <a:ext cx="5676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7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وليه محد سواها للآن؟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0" y="3009900"/>
            <a:ext cx="56769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91900" y="3181350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مصانع المملكة، ٢٠٢٥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0" y="314325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١٢٩٤٦ مصنع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2500" y="3638550"/>
            <a:ext cx="56769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391900" y="3810000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وكل مصنع يحتاج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0" y="377190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يوم كامل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72500" y="4286250"/>
            <a:ext cx="5676900" cy="952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049250" y="4610100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يعني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4419600"/>
            <a:ext cx="428625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57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٣٥ سنة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0" y="5676900"/>
            <a:ext cx="5676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وأول ما تخلص، بتكون معلوماتك آوت ديتد!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8650" y="2343150"/>
            <a:ext cx="9525" cy="38100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8750" y="2343150"/>
            <a:ext cx="6477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7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وليش الحين؟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750" y="285750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لأن اللي كان يحتاج باحث ليوم كامل، صار وكيل ذكاء اصطناعي يسويه: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" y="358140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يقرأ الموقع والسجل والترسيات والكتالوجات  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50" y="394335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دقيقتين للمصنع بدل يوم كامل 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430530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٢٤ ساعة بلا توقف، وبالتوازي  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466725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وما ينسى ولا معلومة لقاها  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28750" y="5295900"/>
            <a:ext cx="6477000" cy="952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428750" y="5505450"/>
            <a:ext cx="6477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و٣٥ سنة تصير أقل من عشر ساعات.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ما الذي يبنونه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171700"/>
            <a:ext cx="132588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خريطة كامن للقدرات المحلية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48000"/>
            <a:ext cx="132588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زووم · الاكتشاف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123950"/>
            <a:ext cx="13258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3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وش يصير قبل ما يوصل الخريطة؟</a:t>
            </a:r>
          </a:p>
        </p:txBody>
      </p:sp>
      <p:pic>
        <p:nvPicPr>
          <p:cNvPr id="9" name="Picture 8" descr="mini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3550"/>
            <a:ext cx="13258800" cy="87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63150" y="2628900"/>
            <a:ext cx="4286250" cy="21526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153650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مصادر عامة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3650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منافسات · ترميز · صنع في السعودية 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3650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التجارة · الموارد البشرية · المقاولين 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3650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اسم ورقم سجل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76875" y="2628900"/>
            <a:ext cx="4286250" cy="21526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ust-det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2781300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7375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المحقّق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7375" y="318135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يبحث، ويتواصل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7375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يقرأ الموقع والسجل والترسيات 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7375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ويتواصل مع اللي يلقاه 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7375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مورّد ومعه أدلته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2628900"/>
            <a:ext cx="4286250" cy="21526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bust-au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81300"/>
            <a:ext cx="476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1100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المدقّق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100" y="318135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يتحقّق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يدقّق في معلومات المحقّق  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100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يصنّف ويوثّق المورّد 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100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قدرة موثّقة تدخل الخريطة 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53900" y="4991100"/>
            <a:ext cx="2095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تواصل المحقّق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50482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وكل رسالة فيها رابط التسجيل في مساهمة.</a:t>
            </a:r>
          </a:p>
        </p:txBody>
      </p:sp>
      <p:pic>
        <p:nvPicPr>
          <p:cNvPr id="31" name="Picture 30" descr="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391150"/>
            <a:ext cx="1325880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زووم · القرار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123950"/>
            <a:ext cx="13258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3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ولما الخريطة تقول محد يقدر؟</a:t>
            </a:r>
          </a:p>
        </p:txBody>
      </p:sp>
      <p:pic>
        <p:nvPicPr>
          <p:cNvPr id="9" name="Picture 8" descr="minim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3550"/>
            <a:ext cx="13258800" cy="87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391900" y="2571750"/>
            <a:ext cx="2857500" cy="121920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563350" y="2781300"/>
            <a:ext cx="2514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الخريطة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0" y="2571750"/>
            <a:ext cx="44767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77050" y="2781300"/>
            <a:ext cx="41338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المستشار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050" y="3143250"/>
            <a:ext cx="41338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ما يوقف عند «محد يقدر». يجرّب ست درجات بالترتيب.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571750"/>
            <a:ext cx="26098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57650" y="2781300"/>
            <a:ext cx="2266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سجل الفجوات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7650" y="3143250"/>
            <a:ext cx="22669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اللي ما انحل، مقيّد بقيمته السنوية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" y="2571750"/>
            <a:ext cx="26098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8250" y="2781300"/>
            <a:ext cx="2266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نسبة التغطية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3143250"/>
            <a:ext cx="22669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اللي قدرنا نغطّيه محلياً، بعد كل درجة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5050" y="407670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696950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39550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نشتريه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4600" y="436245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34600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أمر شراء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57825" y="407670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29725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2325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نقسّمه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7375" y="436245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67375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ترسية مقسّمة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600" y="407670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762500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5100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نستثمر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" y="436245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0150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توسعة مقابل تعاقد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5050" y="520065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696950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39550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نشارك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34600" y="548640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134600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شراكة ونقل معرفة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7825" y="520065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29725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2325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نوطّن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7375" y="548640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67375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استثمار مباشر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0600" y="520065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762500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5100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نستورد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00150" y="548640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00150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استيراد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ما الذي يبنونه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171700"/>
            <a:ext cx="132588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خريطة كامن للقدرات المحلية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48000"/>
            <a:ext cx="132588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خلف الكواليس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00200"/>
            <a:ext cx="13258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0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وش يشغّل الخريطة؟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1695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نفس الخريطة، والمنقّط تحتها هو اللي يغذّي الوكلاء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1695450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●  وكيل ذكاء اصطناعي</a:t>
            </a:r>
          </a:p>
        </p:txBody>
      </p:sp>
      <p:pic>
        <p:nvPicPr>
          <p:cNvPr id="11" name="Picture 10" descr="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52650"/>
            <a:ext cx="13258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المُخرج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pic>
        <p:nvPicPr>
          <p:cNvPr id="8" name="Picture 7" descr="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00175"/>
            <a:ext cx="13258800" cy="5467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الحساب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2324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الطريقة القديمة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6900" y="2324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0600" y="27241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344400" y="297180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الوقت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29908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٣٥ سنة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29908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أقل من ١٠ ساعات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35814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344400" y="382905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التكلفة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384810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ملايين الريالات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384810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أقل من ٤ آلاف دولار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386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44400" y="468630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الحداثة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47053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تقرير يطلع قديم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47053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يحدّث نفسه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5676900"/>
            <a:ext cx="13258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2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نفس الشغل. بس بساعات، مو بسنوات.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24000"/>
            <a:ext cx="13258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6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 اليوم.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40030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الأرقام من قاعدة البيانات، والتكلفة من الفواتير.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1900" y="3009900"/>
            <a:ext cx="9525" cy="43053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39400" y="30289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وش بناه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3352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439650" y="35433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١٥,٠٢٥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36576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مورّد على الخريطة، منهم ١٥٢ ما هم في ترميز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42672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9650" y="44577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٥١,٩٩٢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2900" y="45720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قدرة موثّقة: مورّد واحد، منتج واحد، بمواصفة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2900" y="51816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9650" y="53721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٤,٨٣٦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0" y="54864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رمز تعريفة مسجّل، من ١٠,٧٩٤ في التصنيف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2900" y="60960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439650" y="62865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١,١٤٦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64008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تشغيلة وكيل، في ٧٣ ساعة تشغيل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30289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وش كلّف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600" y="3352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038600" y="348615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8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صفر ريال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3771900"/>
            <a:ext cx="295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على ٢.٩٣ مليون توكن دخل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" y="4381500"/>
            <a:ext cx="62865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qwen3.5:9b يشتغل محلياً على Ollama، وTavily على باقته المجانية ونتائجه مخزّنة، فإعادة التشغيل ما تكلف شي.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5295900"/>
            <a:ext cx="628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ولو شغّلناها عند مزوّد ثاني، نفس التوكنات: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0600" y="5638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848100" y="57531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Ollama · qwen3.5:9b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" y="574357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5C1A"/>
                </a:solidFill>
                <a:latin typeface="IBM Plex Mono"/>
                <a:ea typeface="IBM Plex Mono"/>
                <a:cs typeface="IBM Plex Mono"/>
              </a:rP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0600" y="607695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48100" y="61912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Gemini Flash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" y="61817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0600" y="6515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48100" y="66294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GPT-4o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600" y="661987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0600" y="695325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848100" y="70675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Claude Opus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600" y="70580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$81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010900" y="2247900"/>
            <a:ext cx="3238500" cy="1143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0600" y="2781300"/>
            <a:ext cx="1325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645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مساهمة تعرف مين سجّل.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848100"/>
            <a:ext cx="1325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64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 يعرف اللي ما رفع يده.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5295900"/>
            <a:ext cx="1325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احنا مو بديل للمنصة. احنا الطبقة اللي تحتها.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من نحن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34900" y="1504950"/>
            <a:ext cx="1714500" cy="952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1771650"/>
            <a:ext cx="132588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57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ثلاثة أشخاص. وآلاف الوكلاء.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838450"/>
            <a:ext cx="13258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الفريق اللي يبني كامن.</a:t>
            </a:r>
          </a:p>
        </p:txBody>
      </p:sp>
      <p:pic>
        <p:nvPicPr>
          <p:cNvPr id="11" name="Picture 10" descr="face-moham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0" y="3543300"/>
            <a:ext cx="2514600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33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محمد شلبي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33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AI-Native Principle Engineer</a:t>
            </a:r>
          </a:p>
        </p:txBody>
      </p:sp>
      <p:pic>
        <p:nvPicPr>
          <p:cNvPr id="14" name="Picture 13" descr="face-a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543300"/>
            <a:ext cx="25146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18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علي باموالم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Product Consultant</a:t>
            </a:r>
          </a:p>
        </p:txBody>
      </p:sp>
      <p:pic>
        <p:nvPicPr>
          <p:cNvPr id="17" name="Picture 16" descr="face-abdulazi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543300"/>
            <a:ext cx="25146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003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عبدالعزيز الحارثي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03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Data Engineer /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 Arabic"/>
        <a:ea typeface="IBM Plex Sans Arabic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Arabic"/>
        <a:ea typeface="IBM Plex Sans Arabic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